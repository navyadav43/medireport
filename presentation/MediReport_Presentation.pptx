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3DF4D-47F6-4D0C-BE54-52C76548D358}" v="833" dt="2026-03-22T14:37:47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4F80D-EEAB-4717-BD2A-FE2E6BD49508}" type="datetimeFigureOut"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84DDE-2B3C-4987-96B8-D93EA8A18B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3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C8F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0FF9D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02920"/>
            <a:ext cx="685800" cy="685800"/>
          </a:xfrm>
          <a:prstGeom prst="rect">
            <a:avLst/>
          </a:prstGeom>
          <a:solidFill>
            <a:srgbClr val="00C8FF">
              <a:alpha val="85000"/>
            </a:srgbClr>
          </a:solidFill>
          <a:ln w="1270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502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MediReport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Report Analyzer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5943600" cy="0"/>
          </a:xfrm>
          <a:prstGeom prst="line">
            <a:avLst/>
          </a:prstGeom>
          <a:noFill/>
          <a:ln w="12700">
            <a:solidFill>
              <a:srgbClr val="1A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medical report → ML analyzes → Get instant insights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2011680" cy="347472"/>
          </a:xfrm>
          <a:prstGeom prst="rect">
            <a:avLst/>
          </a:prstGeom>
          <a:solidFill>
            <a:srgbClr val="00C8FF">
              <a:alpha val="18000"/>
            </a:srgbClr>
          </a:solidFill>
          <a:ln w="9525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ML-Powered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2331720"/>
            <a:ext cx="2011680" cy="347472"/>
          </a:xfrm>
          <a:prstGeom prst="rect">
            <a:avLst/>
          </a:prstGeom>
          <a:solidFill>
            <a:srgbClr val="00FF9D">
              <a:alpha val="18000"/>
            </a:srgbClr>
          </a:solidFill>
          <a:ln w="9525">
            <a:solidFill>
              <a:srgbClr val="00FF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Medical Wiki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17626" y="2809275"/>
            <a:ext cx="2011680" cy="347472"/>
          </a:xfrm>
          <a:prstGeom prst="rect">
            <a:avLst/>
          </a:prstGeom>
          <a:solidFill>
            <a:srgbClr val="FFB347">
              <a:alpha val="18000"/>
            </a:srgbClr>
          </a:solidFill>
          <a:ln w="9525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284" y="280144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Symptom Checker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645" y="2801446"/>
            <a:ext cx="2011680" cy="347472"/>
          </a:xfrm>
          <a:prstGeom prst="rect">
            <a:avLst/>
          </a:prstGeom>
          <a:solidFill>
            <a:srgbClr val="B088FF">
              <a:alpha val="18000"/>
            </a:srgbClr>
          </a:solidFill>
          <a:ln w="9525">
            <a:solidFill>
              <a:srgbClr val="B08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816" y="280144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MediBot Chat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322656"/>
            <a:ext cx="6115833" cy="14616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6B8FA8"/>
                </a:solidFill>
                <a:latin typeface="Calibri"/>
                <a:ea typeface="Calibri"/>
                <a:cs typeface="Calibri"/>
              </a:rPr>
              <a:t>Presented by: 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400" dirty="0">
              <a:solidFill>
                <a:srgbClr val="6B8FA8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b="1" dirty="0">
                <a:solidFill>
                  <a:srgbClr val="6B8FA8"/>
                </a:solidFill>
                <a:latin typeface="Calibri"/>
                <a:ea typeface="Calibri"/>
                <a:cs typeface="Calibri"/>
              </a:rPr>
              <a:t>Naveen Yadav – Backend Developer &amp; Database </a:t>
            </a:r>
            <a:r>
              <a:rPr lang="en-US" sz="1400" b="1">
                <a:solidFill>
                  <a:srgbClr val="6B8FA8"/>
                </a:solidFill>
                <a:latin typeface="Calibri"/>
                <a:ea typeface="Calibri"/>
                <a:cs typeface="Calibri"/>
              </a:rPr>
              <a:t>Administrator</a:t>
            </a:r>
            <a:endParaRPr lang="en-US" sz="14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b="1" dirty="0">
                <a:solidFill>
                  <a:srgbClr val="6B8FA8"/>
                </a:solidFill>
                <a:latin typeface="Calibri"/>
                <a:ea typeface="Calibri"/>
                <a:cs typeface="Calibri"/>
              </a:rPr>
              <a:t>Mohit </a:t>
            </a:r>
            <a:r>
              <a:rPr lang="en-US" sz="1400" b="1" dirty="0" err="1">
                <a:solidFill>
                  <a:srgbClr val="6B8FA8"/>
                </a:solidFill>
                <a:latin typeface="Calibri"/>
                <a:ea typeface="Calibri"/>
                <a:cs typeface="Calibri"/>
              </a:rPr>
              <a:t>Jhariya</a:t>
            </a:r>
            <a:r>
              <a:rPr lang="en-US" sz="1400" b="1" dirty="0">
                <a:solidFill>
                  <a:srgbClr val="6B8FA8"/>
                </a:solidFill>
                <a:latin typeface="Calibri"/>
                <a:ea typeface="Calibri"/>
                <a:cs typeface="Calibri"/>
              </a:rPr>
              <a:t> – Frontend Developer &amp; API Integration</a:t>
            </a:r>
          </a:p>
          <a:p>
            <a:r>
              <a:rPr lang="en-US" sz="1400" b="1" dirty="0">
                <a:solidFill>
                  <a:srgbClr val="6B8FA8"/>
                </a:solidFill>
                <a:latin typeface="Calibri"/>
                <a:ea typeface="Calibri"/>
                <a:cs typeface="Calibri"/>
              </a:rPr>
              <a:t>Mohit Lodhi – AI ML Integration &amp;  Quality </a:t>
            </a:r>
            <a:r>
              <a:rPr lang="en-US" sz="1400" b="1">
                <a:solidFill>
                  <a:srgbClr val="6B8FA8"/>
                </a:solidFill>
                <a:latin typeface="Calibri"/>
                <a:ea typeface="Calibri"/>
                <a:cs typeface="Calibri"/>
              </a:rPr>
              <a:t>Assurance</a:t>
            </a:r>
            <a:endParaRPr lang="en-US" sz="14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6B8FA8"/>
                </a:solidFill>
                <a:latin typeface="Calibri"/>
                <a:ea typeface="Calibri"/>
                <a:cs typeface="Calibri"/>
              </a:rPr>
              <a:t>Academic Year: 2025–2026   |   Python Django + ML + SQLite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72400" y="640080"/>
            <a:ext cx="1188720" cy="731520"/>
          </a:xfrm>
          <a:prstGeom prst="rect">
            <a:avLst/>
          </a:prstGeom>
          <a:solidFill>
            <a:srgbClr val="0D1825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0" y="6949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89.7%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0" y="10789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72400" y="1645920"/>
            <a:ext cx="1188720" cy="731520"/>
          </a:xfrm>
          <a:prstGeom prst="rect">
            <a:avLst/>
          </a:prstGeom>
          <a:solidFill>
            <a:srgbClr val="0D1825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0" y="17007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60+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0" y="208483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772400" y="2651760"/>
            <a:ext cx="1188720" cy="731520"/>
          </a:xfrm>
          <a:prstGeom prst="rect">
            <a:avLst/>
          </a:prstGeom>
          <a:solidFill>
            <a:srgbClr val="0D1825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0" y="270662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72400" y="30906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Articles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0" y="3657600"/>
            <a:ext cx="1188720" cy="731520"/>
          </a:xfrm>
          <a:prstGeom prst="rect">
            <a:avLst/>
          </a:prstGeom>
          <a:solidFill>
            <a:srgbClr val="0D1825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0" y="37124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75+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772400" y="40965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Q&amp;A pairs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992624"/>
            <a:ext cx="8595360" cy="137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750">
                <a:solidFill>
                  <a:srgbClr val="6B8FA8"/>
                </a:solidFill>
              </a:rPr>
              <a:t>M.C.A Final Year Project  | Masters of Computer Application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92624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FA8"/>
                </a:solidFill>
              </a:rPr>
              <a:t>MediReport  •  AI-Powered Medical Analyzer  •  2025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595628" cy="201168"/>
          </a:xfrm>
          <a:prstGeom prst="rect">
            <a:avLst/>
          </a:prstGeom>
          <a:solidFill>
            <a:srgbClr val="FF6B6B">
              <a:alpha val="25000"/>
            </a:srgbClr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00">
                <a:solidFill>
                  <a:srgbClr val="FF6B6B"/>
                </a:solidFill>
              </a:rPr>
              <a:t> PROBLEM STATEMENT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Healthcare Gap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patients struggle to understand their own medical reports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4206240" cy="1234440"/>
          </a:xfrm>
          <a:prstGeom prst="rect">
            <a:avLst/>
          </a:prstGeom>
          <a:solidFill>
            <a:srgbClr val="0D1825"/>
          </a:solidFill>
          <a:ln w="1270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36192"/>
            <a:ext cx="54864" cy="1234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43000" y="1627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Reports are Complex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90195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TSH, HbA1c, LDL, eGFR — patients receive reports full of numbers they cannot interpret without medical training.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4206240" cy="1234440"/>
          </a:xfrm>
          <a:prstGeom prst="rect">
            <a:avLst/>
          </a:prstGeom>
          <a:solidFill>
            <a:srgbClr val="0D1825"/>
          </a:solidFill>
          <a:ln w="12700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99232"/>
            <a:ext cx="54864" cy="12344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43000" y="30906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Access to Doctors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3649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seeing a doctor for report clarification is costly, time-consuming, and often inaccessible in rural areas.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536192"/>
            <a:ext cx="4206240" cy="1234440"/>
          </a:xfrm>
          <a:prstGeom prst="rect">
            <a:avLst/>
          </a:prstGeom>
          <a:solidFill>
            <a:srgbClr val="0D1825"/>
          </a:solidFill>
          <a:ln w="1270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536192"/>
            <a:ext cx="54864" cy="1234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1627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Medical Attention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190195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interpret reports, patients delay treatment for serious conditions — diabetes, anemia, kidney disease.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999232"/>
            <a:ext cx="4206240" cy="1234440"/>
          </a:xfrm>
          <a:prstGeom prst="rect">
            <a:avLst/>
          </a:prstGeom>
          <a:solidFill>
            <a:srgbClr val="0D1825"/>
          </a:solidFill>
          <a:ln w="12700">
            <a:solidFill>
              <a:srgbClr val="00FF9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999232"/>
            <a:ext cx="54864" cy="123444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77840" y="30906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Dependency on Cloud AI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33649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tools require paid API subscriptions, constant internet, and have rate limits that frustrate users.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92624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FA8"/>
                </a:solidFill>
              </a:rPr>
              <a:t>MediReport  •  AI-Powered Medical Analyzer  •  2025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07008" cy="201168"/>
          </a:xfrm>
          <a:prstGeom prst="rect">
            <a:avLst/>
          </a:prstGeom>
          <a:solidFill>
            <a:srgbClr val="00FF9D">
              <a:alpha val="25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00">
                <a:solidFill>
                  <a:srgbClr val="00FF9D"/>
                </a:solidFill>
              </a:rPr>
              <a:t> OUR SOLUTION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28263" y="486947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MediReport Platform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combining ML, Knowledge Base, Wiki &amp; AI Chat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90466" y="2125980"/>
            <a:ext cx="2194560" cy="2194560"/>
          </a:xfrm>
          <a:prstGeom prst="ellipse">
            <a:avLst/>
          </a:prstGeom>
          <a:solidFill>
            <a:srgbClr val="00C8FF">
              <a:alpha val="18000"/>
            </a:srgbClr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0466" y="2294392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MediReport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58652" y="1875677"/>
            <a:ext cx="1737360" cy="822960"/>
          </a:xfrm>
          <a:prstGeom prst="rect">
            <a:avLst/>
          </a:prstGeom>
          <a:solidFill>
            <a:srgbClr val="00C8FF">
              <a:alpha val="18000"/>
            </a:srgbClr>
          </a:solidFill>
          <a:ln w="1270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04372" y="1921397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70132" y="1967117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Report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58652" y="2897144"/>
            <a:ext cx="1737360" cy="822960"/>
          </a:xfrm>
          <a:prstGeom prst="rect">
            <a:avLst/>
          </a:prstGeom>
          <a:solidFill>
            <a:srgbClr val="FFB347">
              <a:alpha val="18000"/>
            </a:srgbClr>
          </a:solidFill>
          <a:ln w="12700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04372" y="2942864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70132" y="298858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3243" y="2345899"/>
            <a:ext cx="1737360" cy="822960"/>
          </a:xfrm>
          <a:prstGeom prst="rect">
            <a:avLst/>
          </a:prstGeom>
          <a:solidFill>
            <a:srgbClr val="00FF9D">
              <a:alpha val="18000"/>
            </a:srgbClr>
          </a:solidFill>
          <a:ln w="12700">
            <a:solidFill>
              <a:srgbClr val="00FF9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28963" y="2391619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94723" y="2437339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90478" y="3389067"/>
            <a:ext cx="1737360" cy="822960"/>
          </a:xfrm>
          <a:prstGeom prst="rect">
            <a:avLst/>
          </a:prstGeom>
          <a:solidFill>
            <a:srgbClr val="B088FF">
              <a:alpha val="18000"/>
            </a:srgbClr>
          </a:solidFill>
          <a:ln w="12700">
            <a:solidFill>
              <a:srgbClr val="B08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6198" y="3434787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01958" y="3480507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0060" y="1308808"/>
            <a:ext cx="1737360" cy="822960"/>
          </a:xfrm>
          <a:prstGeom prst="rect">
            <a:avLst/>
          </a:prstGeom>
          <a:solidFill>
            <a:srgbClr val="00C8FF">
              <a:alpha val="18000"/>
            </a:srgbClr>
          </a:solidFill>
          <a:ln w="1270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25780" y="1354528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91540" y="140024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Upload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PDF Export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54022" y="3883306"/>
            <a:ext cx="1737360" cy="822960"/>
          </a:xfrm>
          <a:prstGeom prst="rect">
            <a:avLst/>
          </a:prstGeom>
          <a:solidFill>
            <a:srgbClr val="6B8FA8">
              <a:alpha val="18000"/>
            </a:srgbClr>
          </a:solidFill>
          <a:ln w="12700">
            <a:solidFill>
              <a:srgbClr val="6B8FA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699742" y="3929026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065502" y="3974746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History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92624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FA8"/>
                </a:solidFill>
              </a:rPr>
              <a:t>MediReport  •  AI-Powered Medical Analyzer  •  2025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517904" cy="201168"/>
          </a:xfrm>
          <a:prstGeom prst="rect">
            <a:avLst/>
          </a:prstGeom>
          <a:solidFill>
            <a:srgbClr val="00C8FF">
              <a:alpha val="25000"/>
            </a:srgbClr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00">
                <a:solidFill>
                  <a:srgbClr val="00C8FF"/>
                </a:solidFill>
              </a:rPr>
              <a:t> TECHNOLOGY STACK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With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Python web stack with local ML — no cloud dependency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196596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81328"/>
            <a:ext cx="1965960" cy="5029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727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68680" y="15910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Django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186537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(MVT Architecture)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481328"/>
            <a:ext cx="196596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481328"/>
            <a:ext cx="1965960" cy="5029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5727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017520" y="15910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186537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TF-IDF chatbot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481328"/>
            <a:ext cx="196596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481328"/>
            <a:ext cx="1965960" cy="5029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5727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166360" y="15910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/ SQL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186537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data storage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481328"/>
            <a:ext cx="196596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481328"/>
            <a:ext cx="1965960" cy="50292"/>
          </a:xfrm>
          <a:prstGeom prst="rect">
            <a:avLst/>
          </a:prstGeom>
          <a:solidFill>
            <a:srgbClr val="B088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5727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315200" y="15910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pdfplumber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1865376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extraction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report parsing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054096"/>
            <a:ext cx="196596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054096"/>
            <a:ext cx="1965960" cy="5029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14553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68680" y="316382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/ CSS / JS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343814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dark 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68880" y="3054096"/>
            <a:ext cx="196596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68880" y="3054096"/>
            <a:ext cx="1965960" cy="5029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0" y="314553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3017520" y="316382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ReportLab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017520" y="343814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analysis download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3054096"/>
            <a:ext cx="196596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3054096"/>
            <a:ext cx="1965960" cy="5029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14553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5166360" y="316382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API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66360" y="343814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chat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ML fallback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3054096"/>
            <a:ext cx="196596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66560" y="3054096"/>
            <a:ext cx="1965960" cy="50292"/>
          </a:xfrm>
          <a:prstGeom prst="rect">
            <a:avLst/>
          </a:prstGeom>
          <a:solidFill>
            <a:srgbClr val="B088FF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0" y="314553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🔢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7315200" y="316382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315200" y="3438144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ML pipeline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92624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FA8"/>
                </a:solidFill>
              </a:rPr>
              <a:t>MediReport  •  AI-Powered Medical Analyzer  •  2025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828800" cy="201168"/>
          </a:xfrm>
          <a:prstGeom prst="rect">
            <a:avLst/>
          </a:prstGeom>
          <a:solidFill>
            <a:srgbClr val="00C8FF">
              <a:alpha val="25000"/>
            </a:srgbClr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00">
                <a:solidFill>
                  <a:srgbClr val="00C8FF"/>
                </a:solidFill>
              </a:rPr>
              <a:t> ML ANALYSIS PIPELINE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Report Analysis Works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uploaded file to complete health insights in seconds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54480"/>
            <a:ext cx="1234440" cy="2286000"/>
          </a:xfrm>
          <a:prstGeom prst="rect">
            <a:avLst/>
          </a:prstGeom>
          <a:solidFill>
            <a:srgbClr val="0D1825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54480"/>
            <a:ext cx="123444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9385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📤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Image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(JPG, PNG, WEBP)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00200" y="2697480"/>
            <a:ext cx="109728" cy="0"/>
          </a:xfrm>
          <a:prstGeom prst="line">
            <a:avLst/>
          </a:prstGeom>
          <a:noFill/>
          <a:ln w="19050">
            <a:solidFill>
              <a:srgbClr val="1A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55648" y="1554480"/>
            <a:ext cx="1234440" cy="2286000"/>
          </a:xfrm>
          <a:prstGeom prst="rect">
            <a:avLst/>
          </a:prstGeom>
          <a:solidFill>
            <a:srgbClr val="0D1825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55648" y="1554480"/>
            <a:ext cx="1234440" cy="54864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8" name="Text 16"/>
          <p:cNvSpPr/>
          <p:nvPr/>
        </p:nvSpPr>
        <p:spPr>
          <a:xfrm>
            <a:off x="1801368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47088" y="19385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801368" y="257860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01368" y="2880360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35808" y="2697480"/>
            <a:ext cx="109728" cy="0"/>
          </a:xfrm>
          <a:prstGeom prst="line">
            <a:avLst/>
          </a:prstGeom>
          <a:noFill/>
          <a:ln w="19050">
            <a:solidFill>
              <a:srgbClr val="1A3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91256" y="1554480"/>
            <a:ext cx="1234440" cy="2286000"/>
          </a:xfrm>
          <a:prstGeom prst="rect">
            <a:avLst/>
          </a:prstGeom>
          <a:solidFill>
            <a:srgbClr val="0D1825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91256" y="1554480"/>
            <a:ext cx="1234440" cy="54864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5" name="Text 23"/>
          <p:cNvSpPr/>
          <p:nvPr/>
        </p:nvSpPr>
        <p:spPr>
          <a:xfrm>
            <a:off x="3236976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82696" y="19385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36976" y="257860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36976" y="2880360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regex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parameters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71416" y="2697480"/>
            <a:ext cx="109728" cy="0"/>
          </a:xfrm>
          <a:prstGeom prst="line">
            <a:avLst/>
          </a:prstGeom>
          <a:noFill/>
          <a:ln w="19050">
            <a:solidFill>
              <a:srgbClr val="1A3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26864" y="1554480"/>
            <a:ext cx="1234440" cy="2286000"/>
          </a:xfrm>
          <a:prstGeom prst="rect">
            <a:avLst/>
          </a:prstGeom>
          <a:solidFill>
            <a:srgbClr val="0D1825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26864" y="1554480"/>
            <a:ext cx="1234440" cy="54864"/>
          </a:xfrm>
          <a:prstGeom prst="rect">
            <a:avLst/>
          </a:prstGeom>
          <a:solidFill>
            <a:srgbClr val="B088FF"/>
          </a:solidFill>
          <a:ln/>
        </p:spPr>
      </p:sp>
      <p:sp>
        <p:nvSpPr>
          <p:cNvPr id="32" name="Text 30"/>
          <p:cNvSpPr/>
          <p:nvPr/>
        </p:nvSpPr>
        <p:spPr>
          <a:xfrm>
            <a:off x="4672584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8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18304" y="19385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672584" y="257860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72584" y="2880360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 accuracy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07024" y="2697480"/>
            <a:ext cx="109728" cy="0"/>
          </a:xfrm>
          <a:prstGeom prst="line">
            <a:avLst/>
          </a:prstGeom>
          <a:noFill/>
          <a:ln w="19050">
            <a:solidFill>
              <a:srgbClr val="1A3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62472" y="1554480"/>
            <a:ext cx="1234440" cy="2286000"/>
          </a:xfrm>
          <a:prstGeom prst="rect">
            <a:avLst/>
          </a:prstGeom>
          <a:solidFill>
            <a:srgbClr val="0D1825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62472" y="1554480"/>
            <a:ext cx="123444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9" name="Text 37"/>
          <p:cNvSpPr/>
          <p:nvPr/>
        </p:nvSpPr>
        <p:spPr>
          <a:xfrm>
            <a:off x="6108192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53912" y="19385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108192" y="257860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08192" y="2880360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meds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342632" y="2697480"/>
            <a:ext cx="109728" cy="0"/>
          </a:xfrm>
          <a:prstGeom prst="line">
            <a:avLst/>
          </a:prstGeom>
          <a:noFill/>
          <a:ln w="19050">
            <a:solidFill>
              <a:srgbClr val="1A30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98080" y="1554480"/>
            <a:ext cx="1234440" cy="2286000"/>
          </a:xfrm>
          <a:prstGeom prst="rect">
            <a:avLst/>
          </a:prstGeom>
          <a:solidFill>
            <a:srgbClr val="0D1825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98080" y="1554480"/>
            <a:ext cx="1234440" cy="54864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46" name="Text 44"/>
          <p:cNvSpPr/>
          <p:nvPr/>
        </p:nvSpPr>
        <p:spPr>
          <a:xfrm>
            <a:off x="754380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89520" y="19385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7543800" y="257860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43800" y="2880360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download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0040" y="4041648"/>
            <a:ext cx="8503920" cy="658368"/>
          </a:xfrm>
          <a:prstGeom prst="rect">
            <a:avLst/>
          </a:prstGeom>
          <a:solidFill>
            <a:srgbClr val="00C8FF">
              <a:alpha val="12000"/>
            </a:srgbClr>
          </a:solidFill>
          <a:ln w="9525">
            <a:solidFill>
              <a:srgbClr val="00C8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Random Forest trained on 5,000 synthetic WHO/NIH patient records  •  Test accuracy: 89.7%  •  16 parameters across Blood, Lipid, Thyroid &amp; Urine reports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92624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FA8"/>
                </a:solidFill>
              </a:rPr>
              <a:t>MediReport  •  AI-Powered Medical Analyzer  •  2025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07008" cy="201168"/>
          </a:xfrm>
          <a:prstGeom prst="rect">
            <a:avLst/>
          </a:prstGeom>
          <a:solidFill>
            <a:srgbClr val="00C8FF">
              <a:alpha val="25000"/>
            </a:srgbClr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00">
                <a:solidFill>
                  <a:srgbClr val="00C8FF"/>
                </a:solidFill>
              </a:rPr>
              <a:t> CORE FEATURE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Report Analysis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analyzer for all major report types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14800" cy="3310128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Supported Report Types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19568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Blood Test (CBC)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1396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Hemoglobin, WBC, RBC, Platelets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45059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" y="248716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Blood Sugar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700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Glucose, HbA1c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98094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🫀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" y="3017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Lipid Profile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2004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Cholesterol, LDL, HDL, Triglycerides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51129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🦋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4400" y="35478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Thyroid Function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7307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TSH, T3, T4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0416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🫘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4400" y="40782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Kidney / Urine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26110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Creatinine, Urine Protein, pH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417320"/>
            <a:ext cx="4114800" cy="3310128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Analysis Output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09160" y="1920240"/>
            <a:ext cx="54864" cy="3474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938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Risk Level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213969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/ Critical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395728"/>
            <a:ext cx="54864" cy="34747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4140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Key Findings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26151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parameter with status &amp; interpretation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871216"/>
            <a:ext cx="54864" cy="34747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8895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💊  Medications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309067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medications (informational)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346704"/>
            <a:ext cx="54864" cy="34747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364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Precautions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46320" y="35661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be careful about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822192"/>
            <a:ext cx="54864" cy="34747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840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Lifestyle Advice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46320" y="404164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Diet, exercise, sleep tips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4297680"/>
            <a:ext cx="54864" cy="347472"/>
          </a:xfrm>
          <a:prstGeom prst="rect">
            <a:avLst/>
          </a:prstGeom>
          <a:solidFill>
            <a:srgbClr val="B088FF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4315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PDF Download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46320" y="451713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as downloadable PDF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92624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FA8"/>
                </a:solidFill>
              </a:rPr>
              <a:t>MediReport  •  AI-Powered Medical Analyzer  •  2025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73352" cy="201168"/>
          </a:xfrm>
          <a:prstGeom prst="rect">
            <a:avLst/>
          </a:prstGeom>
          <a:solidFill>
            <a:srgbClr val="FFB347">
              <a:alpha val="25000"/>
            </a:srgbClr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00">
                <a:solidFill>
                  <a:srgbClr val="FFB347"/>
                </a:solidFill>
              </a:rPr>
              <a:t> AI SYMPTOM CHECKER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 Checker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symptoms → ML matches conditions → Get urgency &amp; specialist advice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1920240" cy="105156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1920240" cy="54864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270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417320"/>
            <a:ext cx="1920240" cy="105156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417320"/>
            <a:ext cx="192024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5270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6032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920240" cy="105156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417320"/>
            <a:ext cx="1920240" cy="54864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5270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70916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Levels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417320"/>
            <a:ext cx="1920240" cy="105156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B088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5270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08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Engine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697480"/>
            <a:ext cx="4160520" cy="914400"/>
          </a:xfrm>
          <a:prstGeom prst="rect">
            <a:avLst/>
          </a:prstGeom>
          <a:solidFill>
            <a:srgbClr val="0D1825"/>
          </a:solidFill>
          <a:ln w="12700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697480"/>
            <a:ext cx="54864" cy="91440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788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069848" y="27889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 Part Filter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9848" y="30632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symptoms by: Head, Chest, Abdomen, Urinary, Limbs, General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697480"/>
            <a:ext cx="4160520" cy="914400"/>
          </a:xfrm>
          <a:prstGeom prst="rect">
            <a:avLst/>
          </a:prstGeom>
          <a:solidFill>
            <a:srgbClr val="0D1825"/>
          </a:solidFill>
          <a:ln w="12700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697480"/>
            <a:ext cx="54864" cy="91440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788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5504688" y="27889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Flag Detector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04688" y="30632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about dangerous combinations — chest pain + sweating = call ambulance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776472"/>
            <a:ext cx="4160520" cy="914400"/>
          </a:xfrm>
          <a:prstGeom prst="rect">
            <a:avLst/>
          </a:prstGeom>
          <a:solidFill>
            <a:srgbClr val="0D1825"/>
          </a:solidFill>
          <a:ln w="12700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776472"/>
            <a:ext cx="54864" cy="91440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867912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1069848" y="38679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 Bars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69848" y="41422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confidence bars showing match % for each possible condition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776472"/>
            <a:ext cx="4160520" cy="914400"/>
          </a:xfrm>
          <a:prstGeom prst="rect">
            <a:avLst/>
          </a:prstGeom>
          <a:solidFill>
            <a:srgbClr val="0D1825"/>
          </a:solidFill>
          <a:ln w="12700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776472"/>
            <a:ext cx="54864" cy="91440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3867912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👨‍⚕️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5504688" y="38679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 Guide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504688" y="41422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exactly which doctor to see — Cardiologist, Endocrinologist, etc.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92624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FA8"/>
                </a:solidFill>
              </a:rPr>
              <a:t>MediReport  •  AI-Powered Medical Analyzer  •  2025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984248" cy="201168"/>
          </a:xfrm>
          <a:prstGeom prst="rect">
            <a:avLst/>
          </a:prstGeom>
          <a:solidFill>
            <a:srgbClr val="B088FF">
              <a:alpha val="25000"/>
            </a:srgbClr>
          </a:solidFill>
          <a:ln w="6350">
            <a:solidFill>
              <a:srgbClr val="B08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00">
                <a:solidFill>
                  <a:srgbClr val="B088FF"/>
                </a:solidFill>
              </a:rPr>
              <a:t> MEDIBOT + MEDICAL WIKI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Chatbot &amp; Knowledge Base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chatbot + offline medical encyclopedia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069080" cy="3310128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4069080" cy="45720"/>
          </a:xfrm>
          <a:prstGeom prst="rect">
            <a:avLst/>
          </a:prstGeom>
          <a:solidFill>
            <a:srgbClr val="B088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88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🤖  </a:t>
            </a:r>
            <a:r>
              <a:rPr lang="en-US" b="1" dirty="0" err="1">
                <a:solidFill>
                  <a:srgbClr val="B088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MediBot</a:t>
            </a:r>
            <a:r>
              <a:rPr lang="en-US" b="1" dirty="0">
                <a:solidFill>
                  <a:srgbClr val="B088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Hybrid Chatbot</a:t>
            </a:r>
            <a:endParaRPr lang="en-US" dirty="0">
              <a:latin typeface="Trebuchet M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1️⃣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8680" y="195681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API (Primary)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1488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quality answers when API key configured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450592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2️⃣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68680" y="24871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TF-IDF ML (Fallback)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6791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offline answers if Gemini unavailable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80944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68680" y="30175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75+ Q&amp;A Pairs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20954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tests, diabetes, thyroid, kidney, vitamins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511296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" y="35478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Context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73989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which report user is viewing for smart answers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41648"/>
            <a:ext cx="347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68680" y="40782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Fallback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4270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never sees an error — ML kicks in silently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417320"/>
            <a:ext cx="4069080" cy="3310128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417320"/>
            <a:ext cx="4069080" cy="457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Medical Wiki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937760" y="1920240"/>
            <a:ext cx="1143000" cy="685800"/>
          </a:xfrm>
          <a:prstGeom prst="rect">
            <a:avLst/>
          </a:prstGeom>
          <a:solidFill>
            <a:srgbClr val="00FF9D">
              <a:alpha val="15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94767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937760" y="229514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36208" y="1920240"/>
            <a:ext cx="1143000" cy="685800"/>
          </a:xfrm>
          <a:prstGeom prst="rect">
            <a:avLst/>
          </a:prstGeom>
          <a:solidFill>
            <a:srgbClr val="00FF9D">
              <a:alpha val="15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194767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236208" y="229514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34656" y="1920240"/>
            <a:ext cx="1143000" cy="685800"/>
          </a:xfrm>
          <a:prstGeom prst="rect">
            <a:avLst/>
          </a:prstGeom>
          <a:solidFill>
            <a:srgbClr val="00FF9D">
              <a:alpha val="15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34656" y="1947672"/>
            <a:ext cx="11430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9D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400" dirty="0">
              <a:latin typeface="Trebuchet M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534656" y="229514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27432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 Blood Disorders (Anemia, Thrombocytopenia)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29718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🍬  Diabetes &amp; Metabolism (Type 2, Prediabetes)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32004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🦋  Thyroid (Hypo/Hyperthyroidism)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34290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🫘  Kidney &amp; Urinary (CKD, UTI)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37760" y="36576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🫀  Cardiovascular (Hypertension, Cholesterol)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38862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Drugs &amp; Medications (Metformin, etc.)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37760" y="41148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Vitamins (Vit D, B12 Deficiency)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0" y="43434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Medical Terms (HbA1c, BMI)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92624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FA8"/>
                </a:solidFill>
              </a:rPr>
              <a:t>MediReport  •  AI-Powered Medical Analyzer  •  2025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751076" cy="201168"/>
          </a:xfrm>
          <a:prstGeom prst="rect">
            <a:avLst/>
          </a:prstGeom>
          <a:solidFill>
            <a:srgbClr val="00C8FF">
              <a:alpha val="25000"/>
            </a:srgbClr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00">
                <a:solidFill>
                  <a:srgbClr val="00C8FF"/>
                </a:solidFill>
              </a:rPr>
              <a:t> SYSTEM ARCHITECTURE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 with 3 integrated ML components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8503920" cy="658368"/>
          </a:xfrm>
          <a:prstGeom prst="rect">
            <a:avLst/>
          </a:prstGeom>
          <a:solidFill>
            <a:srgbClr val="00C8FF">
              <a:alpha val="12000"/>
            </a:srgbClr>
          </a:solidFill>
          <a:ln w="9525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65836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74650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  •  Dark Theme UI  •  Responsive Design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2084832"/>
            <a:ext cx="0" cy="91440"/>
          </a:xfrm>
          <a:prstGeom prst="line">
            <a:avLst/>
          </a:prstGeom>
          <a:noFill/>
          <a:ln w="12700">
            <a:solidFill>
              <a:srgbClr val="1A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76272"/>
            <a:ext cx="8503920" cy="658368"/>
          </a:xfrm>
          <a:prstGeom prst="rect">
            <a:avLst/>
          </a:prstGeom>
          <a:solidFill>
            <a:srgbClr val="00FF9D">
              <a:alpha val="12000"/>
            </a:srgbClr>
          </a:solidFill>
          <a:ln w="9525">
            <a:solidFill>
              <a:srgbClr val="00FF9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76272"/>
            <a:ext cx="64008" cy="658368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240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Django MVT Backend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" y="250545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app  •  wiki app  •  symptom_checker app  •  Authentication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2843784"/>
            <a:ext cx="0" cy="91440"/>
          </a:xfrm>
          <a:prstGeom prst="line">
            <a:avLst/>
          </a:prstGeom>
          <a:noFill/>
          <a:ln w="12700">
            <a:solidFill>
              <a:srgbClr val="1A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935224"/>
            <a:ext cx="8503920" cy="658368"/>
          </a:xfrm>
          <a:prstGeom prst="rect">
            <a:avLst/>
          </a:prstGeom>
          <a:solidFill>
            <a:srgbClr val="FFB347">
              <a:alpha val="12000"/>
            </a:srgbClr>
          </a:solidFill>
          <a:ln w="9525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35224"/>
            <a:ext cx="64008" cy="65836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29992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&amp; AI Engine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326440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(Reports)  •  TF-IDF (Chatbot)  •  TF-IDF (Symptoms)  •  Gemini API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602736"/>
            <a:ext cx="0" cy="91440"/>
          </a:xfrm>
          <a:prstGeom prst="line">
            <a:avLst/>
          </a:prstGeom>
          <a:noFill/>
          <a:ln w="12700">
            <a:solidFill>
              <a:srgbClr val="1A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694176"/>
            <a:ext cx="8503920" cy="658368"/>
          </a:xfrm>
          <a:prstGeom prst="rect">
            <a:avLst/>
          </a:prstGeom>
          <a:solidFill>
            <a:srgbClr val="B088FF">
              <a:alpha val="12000"/>
            </a:srgbClr>
          </a:solidFill>
          <a:ln w="9525">
            <a:solidFill>
              <a:srgbClr val="B08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94176"/>
            <a:ext cx="64008" cy="658368"/>
          </a:xfrm>
          <a:prstGeom prst="rect">
            <a:avLst/>
          </a:prstGeom>
          <a:solidFill>
            <a:srgbClr val="B088FF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37581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8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" y="40233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 •  Media Files (Reports)  •  ML Model Files (.pkl)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92624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FA8"/>
                </a:solidFill>
              </a:rPr>
              <a:t>MediReport  •  AI-Powered Medical Analyzer  •  2025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595628" cy="201168"/>
          </a:xfrm>
          <a:prstGeom prst="rect">
            <a:avLst/>
          </a:prstGeom>
          <a:solidFill>
            <a:srgbClr val="00FF9D">
              <a:alpha val="25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00">
                <a:solidFill>
                  <a:srgbClr val="00FF9D"/>
                </a:solidFill>
              </a:rPr>
              <a:t> RESULTS &amp; TESTING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&amp; Testing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ML models with strong accuracy metrics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1965960" cy="1280160"/>
          </a:xfrm>
          <a:prstGeom prst="rect">
            <a:avLst/>
          </a:prstGeom>
          <a:solidFill>
            <a:srgbClr val="112030"/>
          </a:solidFill>
          <a:ln w="12700">
            <a:solidFill>
              <a:srgbClr val="00FF9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1965960" cy="54864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417320"/>
            <a:ext cx="1965960" cy="1280160"/>
          </a:xfrm>
          <a:prstGeom prst="rect">
            <a:avLst/>
          </a:prstGeom>
          <a:solidFill>
            <a:srgbClr val="112030"/>
          </a:solidFill>
          <a:ln w="1270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417320"/>
            <a:ext cx="196596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46888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965960" cy="1280160"/>
          </a:xfrm>
          <a:prstGeom prst="rect">
            <a:avLst/>
          </a:prstGeom>
          <a:solidFill>
            <a:srgbClr val="112030"/>
          </a:solidFill>
          <a:ln w="12700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417320"/>
            <a:ext cx="1965960" cy="54864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1772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1417320"/>
            <a:ext cx="1965960" cy="1280160"/>
          </a:xfrm>
          <a:prstGeom prst="rect">
            <a:avLst/>
          </a:prstGeom>
          <a:solidFill>
            <a:srgbClr val="112030"/>
          </a:solidFill>
          <a:ln w="12700">
            <a:solidFill>
              <a:srgbClr val="B08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417320"/>
            <a:ext cx="1965960" cy="54864"/>
          </a:xfrm>
          <a:prstGeom prst="rect">
            <a:avLst/>
          </a:prstGeom>
          <a:solidFill>
            <a:srgbClr val="B088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8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852928"/>
            <a:ext cx="8503920" cy="173736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29443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Functional Testing Results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3192" y="3346704"/>
            <a:ext cx="54864" cy="25603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3284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🩸 Blood Test Report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77440" y="33284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identification of 8/8 parameters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45152" y="3346704"/>
            <a:ext cx="54864" cy="25603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3284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🦋 Thyroid Report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9400" y="33284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5.8 → Correctly diagnosed Hypothyroidism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3192" y="3730752"/>
            <a:ext cx="54864" cy="25603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7124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🍬 Diabetes Symptoms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7440" y="37124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symptoms → Type 2 Diabetes as #1 match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45152" y="3730752"/>
            <a:ext cx="54864" cy="2560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7124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Emergency Detection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29400" y="37124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+ sweating → Emergency red flag triggered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93192" y="4114800"/>
            <a:ext cx="54864" cy="256032"/>
          </a:xfrm>
          <a:prstGeom prst="rect">
            <a:avLst/>
          </a:prstGeom>
          <a:solidFill>
            <a:srgbClr val="B088FF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40965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MediBot Fallback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77440" y="40965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429 error → TF-IDF responds seamlessly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45152" y="4114800"/>
            <a:ext cx="54864" cy="25603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0965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PDF Generation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40965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PDF generated and verified in Acrobat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92624"/>
            <a:ext cx="6400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8FA8"/>
                </a:solidFill>
              </a:rPr>
              <a:t>MediReport  •  AI-Powered Medical Analyzer  •  2025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07008" cy="201168"/>
          </a:xfrm>
          <a:prstGeom prst="rect">
            <a:avLst/>
          </a:prstGeom>
          <a:solidFill>
            <a:srgbClr val="00C8FF">
              <a:alpha val="25000"/>
            </a:srgbClr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00">
                <a:solidFill>
                  <a:srgbClr val="00C8FF"/>
                </a:solidFill>
              </a:rPr>
              <a:t> FUTURE SCOPE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Enhancements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MediReport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3931920" cy="3310128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393192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08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Current Limitations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image PDFs need manual entry (no OCR by default)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414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trained on synthetic data — improves with real datasets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Web-only (no mobile app yet)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4472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limited to 75+ Q&amp;A pairs without Gemini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EHR integration or appointment booking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1417320"/>
            <a:ext cx="4297680" cy="3310128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1417320"/>
            <a:ext cx="4297680" cy="457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5087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FF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Enhancements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63440" y="193852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74920" y="2011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 / Flutter)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39572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74920" y="2468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Kaggle/UCI dataset training (95%+ accuracy)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285292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074920" y="29260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(Hindi, Marathi, Tamil)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331012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⌚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074920" y="33832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 data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76732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👨‍⚕️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074920" y="38404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422452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074920" y="4297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 / Azure)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286000"/>
            <a:ext cx="4114800" cy="4114800"/>
          </a:xfrm>
          <a:prstGeom prst="ellipse">
            <a:avLst/>
          </a:prstGeom>
          <a:solidFill>
            <a:srgbClr val="00C8F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0FF9D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MediReport bridges the gap between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data and patient understanding.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697480" cy="1051560"/>
          </a:xfrm>
          <a:prstGeom prst="rect">
            <a:avLst/>
          </a:prstGeom>
          <a:solidFill>
            <a:srgbClr val="0D1825"/>
          </a:solidFill>
          <a:ln w="1270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54864" cy="10515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78408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ML-Powered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22677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 accurate offline Random Forest model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697480" cy="1051560"/>
          </a:xfrm>
          <a:prstGeom prst="rect">
            <a:avLst/>
          </a:prstGeom>
          <a:solidFill>
            <a:srgbClr val="0D1825"/>
          </a:solidFill>
          <a:ln w="12700">
            <a:solidFill>
              <a:srgbClr val="00FF9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920240"/>
            <a:ext cx="54864" cy="105156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01168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58768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 Checker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58768" y="22677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symptoms, 20 conditions, emergency detection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2697480" cy="1051560"/>
          </a:xfrm>
          <a:prstGeom prst="rect">
            <a:avLst/>
          </a:prstGeom>
          <a:solidFill>
            <a:srgbClr val="0D1825"/>
          </a:solidFill>
          <a:ln w="12700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920240"/>
            <a:ext cx="54864" cy="105156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01168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39128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Wiki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39128" y="22677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articles, 12 categories, fully offline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154680"/>
            <a:ext cx="2697480" cy="1051560"/>
          </a:xfrm>
          <a:prstGeom prst="rect">
            <a:avLst/>
          </a:prstGeom>
          <a:solidFill>
            <a:srgbClr val="0D1825"/>
          </a:solidFill>
          <a:ln w="12700">
            <a:solidFill>
              <a:srgbClr val="B08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54680"/>
            <a:ext cx="54864" cy="1051560"/>
          </a:xfrm>
          <a:prstGeom prst="rect">
            <a:avLst/>
          </a:prstGeom>
          <a:solidFill>
            <a:srgbClr val="B088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4612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78408" y="3246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MediBot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8408" y="35021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+ TF-IDF ML fallback, 75+ Q&amp;A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3154680"/>
            <a:ext cx="2697480" cy="1051560"/>
          </a:xfrm>
          <a:prstGeom prst="rect">
            <a:avLst/>
          </a:prstGeom>
          <a:solidFill>
            <a:srgbClr val="0D1825"/>
          </a:solidFill>
          <a:ln w="1270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154680"/>
            <a:ext cx="54864" cy="10515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24612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858768" y="3246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Generation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58768" y="35021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analysis report download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3154680"/>
            <a:ext cx="2697480" cy="1051560"/>
          </a:xfrm>
          <a:prstGeom prst="rect">
            <a:avLst/>
          </a:prstGeom>
          <a:solidFill>
            <a:srgbClr val="0D1825"/>
          </a:solidFill>
          <a:ln w="1270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3154680"/>
            <a:ext cx="54864" cy="10515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324612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739128" y="3246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Platform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39128" y="35021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analyze, wiki, chat, symptom check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029200" y="44622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🙋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82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MediReport — AI Medical Report Analyzer</dc:title>
  <dc:subject>PptxGenJS Presentation</dc:subject>
  <dc:creator>Namrata</dc:creator>
  <cp:lastModifiedBy>Namrata</cp:lastModifiedBy>
  <cp:revision>121</cp:revision>
  <dcterms:created xsi:type="dcterms:W3CDTF">2026-03-22T14:11:23Z</dcterms:created>
  <dcterms:modified xsi:type="dcterms:W3CDTF">2026-03-22T14:38:34Z</dcterms:modified>
</cp:coreProperties>
</file>